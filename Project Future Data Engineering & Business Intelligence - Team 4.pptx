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utfit"/>
      <p:regular r:id="rId19"/>
      <p:bold r:id="rId20"/>
    </p:embeddedFont>
    <p:embeddedFont>
      <p:font typeface="Outfit Medium"/>
      <p:regular r:id="rId21"/>
      <p:bold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bold.fntdata"/><Relationship Id="rId22" Type="http://schemas.openxmlformats.org/officeDocument/2006/relationships/font" Target="fonts/OutfitMedium-bold.fntdata"/><Relationship Id="rId21" Type="http://schemas.openxmlformats.org/officeDocument/2006/relationships/font" Target="fonts/OutfitMedium-regular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utfi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df5ac50d6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df5ac50d6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fd80c83e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fd80c83e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df5ac50d6_1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df5ac50d6_1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21d82be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21d82b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d80c83e9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fd80c83e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d80c83e9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fd80c83e9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fd80c83e9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fd80c83e9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fd80c83e9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fd80c83e9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fd80c83e9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fd80c83e9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df5ac50d6_1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bdf5ac50d6_1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d80c83e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bfd80c83e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fd80c83e9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bfd80c83e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df5ac50d6_1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bdf5ac50d6_1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l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l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l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l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l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l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l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l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gif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ctrTitle"/>
          </p:nvPr>
        </p:nvSpPr>
        <p:spPr>
          <a:xfrm>
            <a:off x="178775" y="103175"/>
            <a:ext cx="58608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l" sz="4110"/>
              <a:t>Project Future 12: </a:t>
            </a:r>
            <a:endParaRPr sz="411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l" sz="4110"/>
              <a:t>Data Engineering &amp; Business Intelligence</a:t>
            </a:r>
            <a:endParaRPr sz="4300"/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178775" y="2786150"/>
            <a:ext cx="5658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Outfit"/>
                <a:ea typeface="Outfit"/>
                <a:cs typeface="Outfit"/>
                <a:sym typeface="Outfit"/>
              </a:rPr>
              <a:t>Project Assignment: Melodica Business Intelligence Pipeline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33"/>
          <p:cNvGrpSpPr/>
          <p:nvPr/>
        </p:nvGrpSpPr>
        <p:grpSpPr>
          <a:xfrm rot="-546080">
            <a:off x="5805121" y="520439"/>
            <a:ext cx="2799970" cy="4363798"/>
            <a:chOff x="5115337" y="-428624"/>
            <a:chExt cx="4275118" cy="6450405"/>
          </a:xfrm>
        </p:grpSpPr>
        <p:sp>
          <p:nvSpPr>
            <p:cNvPr id="341" name="Google Shape;341;p33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3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650" lIns="64650" spcFirstLastPara="1" rIns="64650" wrap="square" tIns="64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33"/>
          <p:cNvSpPr txBox="1"/>
          <p:nvPr/>
        </p:nvSpPr>
        <p:spPr>
          <a:xfrm>
            <a:off x="178775" y="345580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l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George Kapelos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l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Dimitris Loukakis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l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Ioannis Karelas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l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Georgios Avgeridis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l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Anastasios Kakos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62" name="Google Shape;362;p33" title="Εικόνα1-removebg-preview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2750" y="3945476"/>
            <a:ext cx="2533176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2750" y="4540510"/>
            <a:ext cx="2533650" cy="53771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/>
        </p:nvSpPr>
        <p:spPr>
          <a:xfrm>
            <a:off x="827775" y="3134325"/>
            <a:ext cx="1044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Team 4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2738" y="3350450"/>
            <a:ext cx="25336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>
            <p:ph type="title"/>
          </p:nvPr>
        </p:nvSpPr>
        <p:spPr>
          <a:xfrm>
            <a:off x="100" y="77750"/>
            <a:ext cx="91440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Project Outline</a:t>
            </a:r>
            <a:endParaRPr/>
          </a:p>
        </p:txBody>
      </p:sp>
      <p:sp>
        <p:nvSpPr>
          <p:cNvPr id="371" name="Google Shape;371;p34"/>
          <p:cNvSpPr txBox="1"/>
          <p:nvPr>
            <p:ph idx="1" type="body"/>
          </p:nvPr>
        </p:nvSpPr>
        <p:spPr>
          <a:xfrm>
            <a:off x="445375" y="1048200"/>
            <a:ext cx="84585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Client:</a:t>
            </a:r>
            <a:r>
              <a:rPr lang="el"/>
              <a:t> </a:t>
            </a:r>
            <a:r>
              <a:rPr lang="el"/>
              <a:t>Melodica Media Corporation , online music store company based in California, US.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Task:</a:t>
            </a:r>
            <a:r>
              <a:rPr lang="el"/>
              <a:t> Implement an end-to-end Business Intelligence pipeline to analyze track sales.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Objective:</a:t>
            </a:r>
            <a:r>
              <a:rPr lang="el"/>
              <a:t> Support business decision-making through clear and reliable sales insights.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Data:</a:t>
            </a:r>
            <a:r>
              <a:rPr lang="el"/>
              <a:t> Transactional sales data sourced from the Chinook OLTP database.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Solution:</a:t>
            </a:r>
            <a:r>
              <a:rPr lang="el"/>
              <a:t> Data pipeline including staging area, data warehouse and automated ETL processes.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Outcome:</a:t>
            </a:r>
            <a:r>
              <a:rPr lang="el"/>
              <a:t> Interactive Power BI dashboards that provide clear views of sales performance across multiple dimensions.</a:t>
            </a:r>
            <a:endParaRPr/>
          </a:p>
        </p:txBody>
      </p:sp>
      <p:pic>
        <p:nvPicPr>
          <p:cNvPr id="372" name="Google Shape;372;p34" title="Εικόνα1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8050" y="4135800"/>
            <a:ext cx="224790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0" y="210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Table of contents</a:t>
            </a:r>
            <a:endParaRPr/>
          </a:p>
        </p:txBody>
      </p:sp>
      <p:sp>
        <p:nvSpPr>
          <p:cNvPr id="378" name="Google Shape;378;p35"/>
          <p:cNvSpPr txBox="1"/>
          <p:nvPr>
            <p:ph idx="3" type="subTitle"/>
          </p:nvPr>
        </p:nvSpPr>
        <p:spPr>
          <a:xfrm>
            <a:off x="4939375" y="38634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Interactive sales analysis dashboard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379" name="Google Shape;379;p35"/>
          <p:cNvSpPr txBox="1"/>
          <p:nvPr>
            <p:ph idx="1" type="subTitle"/>
          </p:nvPr>
        </p:nvSpPr>
        <p:spPr>
          <a:xfrm>
            <a:off x="2406300" y="2153950"/>
            <a:ext cx="13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Provided data</a:t>
            </a:r>
            <a:endParaRPr/>
          </a:p>
        </p:txBody>
      </p:sp>
      <p:sp>
        <p:nvSpPr>
          <p:cNvPr id="380" name="Google Shape;380;p35"/>
          <p:cNvSpPr txBox="1"/>
          <p:nvPr>
            <p:ph idx="2" type="subTitle"/>
          </p:nvPr>
        </p:nvSpPr>
        <p:spPr>
          <a:xfrm>
            <a:off x="4939371" y="2153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SQL Scripts to create and load the Staging Area</a:t>
            </a:r>
            <a:endParaRPr/>
          </a:p>
        </p:txBody>
      </p:sp>
      <p:sp>
        <p:nvSpPr>
          <p:cNvPr id="381" name="Google Shape;381;p35"/>
          <p:cNvSpPr txBox="1"/>
          <p:nvPr>
            <p:ph idx="5" type="subTitle"/>
          </p:nvPr>
        </p:nvSpPr>
        <p:spPr>
          <a:xfrm>
            <a:off x="1931400" y="3862878"/>
            <a:ext cx="23055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SQL scripts to create the DW and load it from the staging area</a:t>
            </a:r>
            <a:endParaRPr/>
          </a:p>
        </p:txBody>
      </p:sp>
      <p:sp>
        <p:nvSpPr>
          <p:cNvPr id="382" name="Google Shape;382;p35"/>
          <p:cNvSpPr txBox="1"/>
          <p:nvPr>
            <p:ph idx="7" type="title"/>
          </p:nvPr>
        </p:nvSpPr>
        <p:spPr>
          <a:xfrm>
            <a:off x="2716800" y="1182376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0</a:t>
            </a:r>
            <a:r>
              <a:rPr lang="el"/>
              <a:t>1</a:t>
            </a:r>
            <a:endParaRPr/>
          </a:p>
        </p:txBody>
      </p:sp>
      <p:sp>
        <p:nvSpPr>
          <p:cNvPr id="383" name="Google Shape;383;p35"/>
          <p:cNvSpPr txBox="1"/>
          <p:nvPr>
            <p:ph idx="8" type="title"/>
          </p:nvPr>
        </p:nvSpPr>
        <p:spPr>
          <a:xfrm>
            <a:off x="5724775" y="2891302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0</a:t>
            </a:r>
            <a:r>
              <a:rPr lang="el"/>
              <a:t>4</a:t>
            </a:r>
            <a:endParaRPr/>
          </a:p>
        </p:txBody>
      </p:sp>
      <p:sp>
        <p:nvSpPr>
          <p:cNvPr id="384" name="Google Shape;384;p35"/>
          <p:cNvSpPr txBox="1"/>
          <p:nvPr>
            <p:ph idx="9" type="title"/>
          </p:nvPr>
        </p:nvSpPr>
        <p:spPr>
          <a:xfrm>
            <a:off x="5724771" y="1182376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0</a:t>
            </a:r>
            <a:r>
              <a:rPr lang="el"/>
              <a:t>2</a:t>
            </a:r>
            <a:endParaRPr/>
          </a:p>
        </p:txBody>
      </p:sp>
      <p:sp>
        <p:nvSpPr>
          <p:cNvPr id="385" name="Google Shape;385;p35"/>
          <p:cNvSpPr txBox="1"/>
          <p:nvPr>
            <p:ph idx="14" type="title"/>
          </p:nvPr>
        </p:nvSpPr>
        <p:spPr>
          <a:xfrm>
            <a:off x="2716800" y="2891301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0</a:t>
            </a:r>
            <a:r>
              <a:rPr lang="el"/>
              <a:t>3</a:t>
            </a:r>
            <a:endParaRPr/>
          </a:p>
        </p:txBody>
      </p:sp>
      <p:sp>
        <p:nvSpPr>
          <p:cNvPr id="386" name="Google Shape;386;p35"/>
          <p:cNvSpPr txBox="1"/>
          <p:nvPr>
            <p:ph idx="16" type="subTitle"/>
          </p:nvPr>
        </p:nvSpPr>
        <p:spPr>
          <a:xfrm>
            <a:off x="1931400" y="17765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OLTP</a:t>
            </a:r>
            <a:endParaRPr/>
          </a:p>
        </p:txBody>
      </p:sp>
      <p:sp>
        <p:nvSpPr>
          <p:cNvPr id="387" name="Google Shape;387;p35"/>
          <p:cNvSpPr txBox="1"/>
          <p:nvPr>
            <p:ph idx="17" type="subTitle"/>
          </p:nvPr>
        </p:nvSpPr>
        <p:spPr>
          <a:xfrm>
            <a:off x="4939371" y="17765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Staging</a:t>
            </a:r>
            <a:endParaRPr/>
          </a:p>
        </p:txBody>
      </p:sp>
      <p:sp>
        <p:nvSpPr>
          <p:cNvPr id="388" name="Google Shape;388;p35"/>
          <p:cNvSpPr txBox="1"/>
          <p:nvPr>
            <p:ph idx="18" type="subTitle"/>
          </p:nvPr>
        </p:nvSpPr>
        <p:spPr>
          <a:xfrm>
            <a:off x="1424350" y="3485475"/>
            <a:ext cx="3207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Warehouse</a:t>
            </a:r>
            <a:endParaRPr/>
          </a:p>
        </p:txBody>
      </p:sp>
      <p:sp>
        <p:nvSpPr>
          <p:cNvPr id="389" name="Google Shape;389;p35"/>
          <p:cNvSpPr txBox="1"/>
          <p:nvPr>
            <p:ph idx="19" type="subTitle"/>
          </p:nvPr>
        </p:nvSpPr>
        <p:spPr>
          <a:xfrm>
            <a:off x="4939375" y="34855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Power BI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Imported data (OLTP)</a:t>
            </a:r>
            <a:endParaRPr/>
          </a:p>
        </p:txBody>
      </p:sp>
      <p:pic>
        <p:nvPicPr>
          <p:cNvPr id="395" name="Google Shape;3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450" y="1096631"/>
            <a:ext cx="3709475" cy="351677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>
            <p:ph idx="4294967295" type="body"/>
          </p:nvPr>
        </p:nvSpPr>
        <p:spPr>
          <a:xfrm>
            <a:off x="720000" y="1100525"/>
            <a:ext cx="3852000" cy="3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Data Source: </a:t>
            </a:r>
            <a:r>
              <a:rPr lang="el"/>
              <a:t>Using the Chinook database as Melodica's main transactional (OLTP) system.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Analysis Scope: </a:t>
            </a:r>
            <a:r>
              <a:rPr lang="el"/>
              <a:t>Focusing on the Tracks, Invoices, Customers, and Employees entities.</a:t>
            </a:r>
            <a:r>
              <a:rPr lang="el"/>
              <a:t>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Complexity: </a:t>
            </a:r>
            <a:r>
              <a:rPr lang="el"/>
              <a:t>Visualizing the initial relationships (Normalization) before transforming them into an analytical model.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Staging area</a:t>
            </a:r>
            <a:endParaRPr/>
          </a:p>
        </p:txBody>
      </p:sp>
      <p:pic>
        <p:nvPicPr>
          <p:cNvPr id="402" name="Google Shape;4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575" y="1131700"/>
            <a:ext cx="3288425" cy="349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7"/>
          <p:cNvSpPr txBox="1"/>
          <p:nvPr>
            <p:ph idx="4294967295" type="body"/>
          </p:nvPr>
        </p:nvSpPr>
        <p:spPr>
          <a:xfrm>
            <a:off x="527150" y="1131700"/>
            <a:ext cx="45600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Purpose</a:t>
            </a:r>
            <a:r>
              <a:rPr b="1" lang="el"/>
              <a:t>:</a:t>
            </a:r>
            <a:r>
              <a:rPr lang="el"/>
              <a:t> </a:t>
            </a:r>
            <a:r>
              <a:rPr lang="el"/>
              <a:t>Temporary landing zone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Supports</a:t>
            </a:r>
            <a:r>
              <a:rPr b="1" lang="el"/>
              <a:t>:</a:t>
            </a:r>
            <a:r>
              <a:rPr lang="el"/>
              <a:t> </a:t>
            </a:r>
            <a:r>
              <a:rPr lang="el"/>
              <a:t> Reliable loading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Copy</a:t>
            </a:r>
            <a:r>
              <a:rPr b="1" lang="el"/>
              <a:t>:</a:t>
            </a:r>
            <a:r>
              <a:rPr lang="el"/>
              <a:t> Original data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Duplicate:</a:t>
            </a:r>
            <a:r>
              <a:rPr lang="el"/>
              <a:t> Customers, Employees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Join</a:t>
            </a:r>
            <a:r>
              <a:rPr b="1" lang="el"/>
              <a:t>:</a:t>
            </a:r>
            <a:r>
              <a:rPr lang="el"/>
              <a:t> Album, Artist, Media Type, Genre in Tracks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Join</a:t>
            </a:r>
            <a:r>
              <a:rPr b="1" lang="el"/>
              <a:t>:</a:t>
            </a:r>
            <a:r>
              <a:rPr lang="el"/>
              <a:t> Invoice and Invoice Line in Sales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Warehouse</a:t>
            </a: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898" y="1017725"/>
            <a:ext cx="3244177" cy="36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 txBox="1"/>
          <p:nvPr>
            <p:ph idx="4294967295" type="body"/>
          </p:nvPr>
        </p:nvSpPr>
        <p:spPr>
          <a:xfrm>
            <a:off x="720000" y="1048200"/>
            <a:ext cx="41904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Purpose: </a:t>
            </a:r>
            <a:r>
              <a:rPr lang="el"/>
              <a:t>Optimized data</a:t>
            </a:r>
            <a:r>
              <a:rPr b="1" lang="el"/>
              <a:t> </a:t>
            </a:r>
            <a:r>
              <a:rPr lang="el"/>
              <a:t>for analytics and reporting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Model Type:</a:t>
            </a:r>
            <a:r>
              <a:rPr lang="el"/>
              <a:t> Star schema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Key Table</a:t>
            </a:r>
            <a:r>
              <a:rPr b="1" lang="el"/>
              <a:t>: </a:t>
            </a:r>
            <a:r>
              <a:rPr lang="el"/>
              <a:t>Fact Sales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Add</a:t>
            </a:r>
            <a:r>
              <a:rPr b="1" lang="el"/>
              <a:t>:</a:t>
            </a:r>
            <a:r>
              <a:rPr lang="el"/>
              <a:t> Table with Dates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DimDate:</a:t>
            </a:r>
            <a:r>
              <a:rPr lang="el"/>
              <a:t> Holds Details about Time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Purpose:</a:t>
            </a:r>
            <a:r>
              <a:rPr lang="el"/>
              <a:t> Analytics based on Date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/>
              <a:t>Connections</a:t>
            </a:r>
            <a:r>
              <a:rPr b="1" lang="el"/>
              <a:t>: </a:t>
            </a:r>
            <a:r>
              <a:rPr lang="el"/>
              <a:t>Via</a:t>
            </a:r>
            <a:r>
              <a:rPr b="1" lang="el"/>
              <a:t> </a:t>
            </a:r>
            <a:r>
              <a:rPr lang="el"/>
              <a:t>Single Foreign Key</a:t>
            </a:r>
            <a:r>
              <a:rPr lang="el"/>
              <a:t>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/>
        </p:nvSpPr>
        <p:spPr>
          <a:xfrm>
            <a:off x="1287750" y="1138675"/>
            <a:ext cx="65685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Objective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Analyze digital music sales performance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Identify revenue trends, customer behavior &amp; catalog insights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Support business and management decision-making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Dashboard Structure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Dashboard Home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Performance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Track &amp; Genre Analysis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Customer Performance &amp; Trends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Employee / Support Rep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6" name="Google Shape;416;p39" title="images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000" y="89063"/>
            <a:ext cx="1423925" cy="7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9"/>
          <p:cNvSpPr txBox="1"/>
          <p:nvPr>
            <p:ph type="title"/>
          </p:nvPr>
        </p:nvSpPr>
        <p:spPr>
          <a:xfrm>
            <a:off x="1941300" y="413400"/>
            <a:ext cx="4440300" cy="6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2500"/>
              <a:t>Microsoft Power BI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>
            <p:ph idx="4294967295"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Interactive Dashboard Walkthrough</a:t>
            </a:r>
            <a:endParaRPr/>
          </a:p>
        </p:txBody>
      </p:sp>
      <p:pic>
        <p:nvPicPr>
          <p:cNvPr id="423" name="Google Shape;423;p40" title="ezgif.com-animated-gif-mak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125" y="1036275"/>
            <a:ext cx="680775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0" title="power-bi-microsoft-logo-png_seeklogo-4007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00" y="4095500"/>
            <a:ext cx="1048001" cy="1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/>
        </p:nvSpPr>
        <p:spPr>
          <a:xfrm>
            <a:off x="781525" y="572700"/>
            <a:ext cx="7904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Interactive Power BI dashboard showcasing all analytical views and drill-down capabilities.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467300" y="502350"/>
            <a:ext cx="44133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Value</a:t>
            </a:r>
            <a:endParaRPr/>
          </a:p>
        </p:txBody>
      </p:sp>
      <p:sp>
        <p:nvSpPr>
          <p:cNvPr id="431" name="Google Shape;431;p41"/>
          <p:cNvSpPr txBox="1"/>
          <p:nvPr>
            <p:ph type="title"/>
          </p:nvPr>
        </p:nvSpPr>
        <p:spPr>
          <a:xfrm>
            <a:off x="4478150" y="502350"/>
            <a:ext cx="44790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Insights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 txBox="1"/>
          <p:nvPr>
            <p:ph type="title"/>
          </p:nvPr>
        </p:nvSpPr>
        <p:spPr>
          <a:xfrm>
            <a:off x="467300" y="1264650"/>
            <a:ext cx="35994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Faster access to sales insights without manual reporting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Clear visibility into trends across time, genres, and regions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Improved support for data-driven business decisions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Consistent and repeatable reporting based on a standardized data foundation</a:t>
            </a:r>
            <a:endParaRPr b="0" sz="1500"/>
          </a:p>
        </p:txBody>
      </p:sp>
      <p:sp>
        <p:nvSpPr>
          <p:cNvPr id="433" name="Google Shape;433;p41"/>
          <p:cNvSpPr txBox="1"/>
          <p:nvPr>
            <p:ph type="title"/>
          </p:nvPr>
        </p:nvSpPr>
        <p:spPr>
          <a:xfrm>
            <a:off x="4880600" y="1264650"/>
            <a:ext cx="36741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Identification of top-selling music genres and artists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Sales trends by month and year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Differences in sales performance across countries</a:t>
            </a:r>
            <a:endParaRPr b="0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l" sz="1500"/>
              <a:t>Detection of seasonal patterns and peak sales periods</a:t>
            </a:r>
            <a:endParaRPr b="0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type="title"/>
          </p:nvPr>
        </p:nvSpPr>
        <p:spPr>
          <a:xfrm>
            <a:off x="3822800" y="224975"/>
            <a:ext cx="49773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3900"/>
              <a:t>Tech Stack Overview</a:t>
            </a:r>
            <a:endParaRPr sz="3900"/>
          </a:p>
        </p:txBody>
      </p:sp>
      <p:sp>
        <p:nvSpPr>
          <p:cNvPr id="439" name="Google Shape;439;p42"/>
          <p:cNvSpPr txBox="1"/>
          <p:nvPr>
            <p:ph idx="1" type="subTitle"/>
          </p:nvPr>
        </p:nvSpPr>
        <p:spPr>
          <a:xfrm>
            <a:off x="3822800" y="1965025"/>
            <a:ext cx="4567800" cy="16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2000"/>
              <a:t>Git, Github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2000"/>
              <a:t>SQL 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2000"/>
              <a:t>SQL Server Management Studio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2000"/>
              <a:t>Power BI</a:t>
            </a:r>
            <a:endParaRPr sz="1200"/>
          </a:p>
        </p:txBody>
      </p:sp>
      <p:grpSp>
        <p:nvGrpSpPr>
          <p:cNvPr id="440" name="Google Shape;440;p42"/>
          <p:cNvGrpSpPr/>
          <p:nvPr/>
        </p:nvGrpSpPr>
        <p:grpSpPr>
          <a:xfrm>
            <a:off x="-541907" y="-622274"/>
            <a:ext cx="4136119" cy="6091167"/>
            <a:chOff x="-541907" y="-622274"/>
            <a:chExt cx="4136119" cy="6091167"/>
          </a:xfrm>
        </p:grpSpPr>
        <p:sp>
          <p:nvSpPr>
            <p:cNvPr id="441" name="Google Shape;441;p42"/>
            <p:cNvSpPr/>
            <p:nvPr/>
          </p:nvSpPr>
          <p:spPr>
            <a:xfrm rot="10800000">
              <a:off x="84193" y="4041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2"/>
            <p:cNvSpPr/>
            <p:nvPr/>
          </p:nvSpPr>
          <p:spPr>
            <a:xfrm rot="10800000">
              <a:off x="993581" y="4569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2"/>
            <p:cNvSpPr/>
            <p:nvPr/>
          </p:nvSpPr>
          <p:spPr>
            <a:xfrm rot="10800000">
              <a:off x="2040588" y="96213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2"/>
            <p:cNvSpPr/>
            <p:nvPr/>
          </p:nvSpPr>
          <p:spPr>
            <a:xfrm rot="10800000">
              <a:off x="-541907" y="9621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2"/>
            <p:cNvSpPr/>
            <p:nvPr/>
          </p:nvSpPr>
          <p:spPr>
            <a:xfrm flipH="1">
              <a:off x="993584" y="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2"/>
            <p:cNvSpPr/>
            <p:nvPr/>
          </p:nvSpPr>
          <p:spPr>
            <a:xfrm flipH="1">
              <a:off x="713235" y="227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2"/>
            <p:cNvSpPr/>
            <p:nvPr/>
          </p:nvSpPr>
          <p:spPr>
            <a:xfrm flipH="1">
              <a:off x="421473" y="17788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2"/>
            <p:cNvSpPr/>
            <p:nvPr/>
          </p:nvSpPr>
          <p:spPr>
            <a:xfrm flipH="1">
              <a:off x="1611716" y="147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2"/>
            <p:cNvSpPr/>
            <p:nvPr/>
          </p:nvSpPr>
          <p:spPr>
            <a:xfrm flipH="1">
              <a:off x="2597873" y="-62227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2"/>
            <p:cNvSpPr/>
            <p:nvPr/>
          </p:nvSpPr>
          <p:spPr>
            <a:xfrm flipH="1">
              <a:off x="1260177" y="26512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2"/>
            <p:cNvSpPr/>
            <p:nvPr/>
          </p:nvSpPr>
          <p:spPr>
            <a:xfrm flipH="1">
              <a:off x="2180770" y="-1382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2"/>
            <p:cNvSpPr/>
            <p:nvPr/>
          </p:nvSpPr>
          <p:spPr>
            <a:xfrm rot="10800000">
              <a:off x="1759176" y="40451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2"/>
            <p:cNvSpPr/>
            <p:nvPr/>
          </p:nvSpPr>
          <p:spPr>
            <a:xfrm rot="10800000">
              <a:off x="2367643" y="26512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2"/>
            <p:cNvSpPr/>
            <p:nvPr/>
          </p:nvSpPr>
          <p:spPr>
            <a:xfrm rot="10800000">
              <a:off x="503546" y="35577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2"/>
            <p:cNvSpPr/>
            <p:nvPr/>
          </p:nvSpPr>
          <p:spPr>
            <a:xfrm rot="10800000">
              <a:off x="1759170" y="450077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2"/>
            <p:cNvSpPr/>
            <p:nvPr/>
          </p:nvSpPr>
          <p:spPr>
            <a:xfrm flipH="1">
              <a:off x="-125473" y="53949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2"/>
            <p:cNvSpPr/>
            <p:nvPr/>
          </p:nvSpPr>
          <p:spPr>
            <a:xfrm flipH="1">
              <a:off x="2755502" y="3194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8" name="Google Shape;458;p42"/>
          <p:cNvCxnSpPr/>
          <p:nvPr/>
        </p:nvCxnSpPr>
        <p:spPr>
          <a:xfrm>
            <a:off x="3967400" y="1655488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Challenges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3"/>
          <p:cNvSpPr txBox="1"/>
          <p:nvPr>
            <p:ph idx="4294967295" type="body"/>
          </p:nvPr>
        </p:nvSpPr>
        <p:spPr>
          <a:xfrm>
            <a:off x="593250" y="1229225"/>
            <a:ext cx="79575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Not all team members had prior experience with Git-based workflows, which required additional coordination and guidance to ensure consistent versioning and file uploads.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Power BI KPI visuals rely on the last data point, which required careful date granularity selection to avoid misleading results.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 significant portion of the music catalog has zero sales, which impacts revenue concentration analysis.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Future Work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4"/>
          <p:cNvSpPr txBox="1"/>
          <p:nvPr>
            <p:ph idx="4294967295" type="body"/>
          </p:nvPr>
        </p:nvSpPr>
        <p:spPr>
          <a:xfrm>
            <a:off x="466500" y="1329450"/>
            <a:ext cx="7957500" cy="35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SSIS for automation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Deployment in Cloud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Implement forecasting models for revenue and sales trends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Dynamic and adjustable targets using What-If parameters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 txBox="1"/>
          <p:nvPr>
            <p:ph type="title"/>
          </p:nvPr>
        </p:nvSpPr>
        <p:spPr>
          <a:xfrm>
            <a:off x="1708525" y="48725"/>
            <a:ext cx="5998800" cy="14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Thank you!</a:t>
            </a:r>
            <a:endParaRPr/>
          </a:p>
        </p:txBody>
      </p:sp>
      <p:sp>
        <p:nvSpPr>
          <p:cNvPr id="476" name="Google Shape;476;p45"/>
          <p:cNvSpPr txBox="1"/>
          <p:nvPr>
            <p:ph idx="1" type="subTitle"/>
          </p:nvPr>
        </p:nvSpPr>
        <p:spPr>
          <a:xfrm>
            <a:off x="1477800" y="1276025"/>
            <a:ext cx="61884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Github: https://github.com/tasos-kakos/PF12_team4</a:t>
            </a:r>
            <a:endParaRPr/>
          </a:p>
        </p:txBody>
      </p:sp>
      <p:pic>
        <p:nvPicPr>
          <p:cNvPr id="477" name="Google Shape;4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1383"/>
            <a:ext cx="9143998" cy="3272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